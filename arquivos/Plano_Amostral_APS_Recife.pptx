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Avaliação de Acesso e Qualidade da APS em Recife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Plano Amostral e Estratégia Operacional — USF vs USF+
Mais Dados Mais Saúde · Umane · Vital Strategies · UFPel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Avaliar o </a:t>
            </a:r>
            <a:r>
              <a:rPr cap="none" sz="14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acesso</a:t>
            </a:r>
            <a:r>
              <a:rPr cap="none" sz="14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e a </a:t>
            </a:r>
            <a:r>
              <a:rPr cap="none" sz="14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qualidade</a:t>
            </a:r>
            <a:r>
              <a:rPr cap="none" sz="14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da APS em Recife, comparando: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>
                <a:solidFill>
                  <a:srgbClr val="4A6A9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USF</a:t>
            </a:r>
            <a:r>
              <a:rPr cap="none" sz="14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(convencional)  vs  </a:t>
            </a:r>
            <a:r>
              <a:rPr cap="none" sz="16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USF+</a:t>
            </a:r>
            <a:r>
              <a:rPr cap="none" sz="14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(programa de expansão)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Instrumento: baseado nos atributos da APS (Starfield)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>
                <a:solidFill>
                  <a:srgbClr val="99999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Referência: Castro et al. (2012), Cad. Saúde Pública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Desenho do Estudo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Tipo: </a:t>
            </a:r>
            <a:r>
              <a:rPr cap="none" sz="13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Transversal, base populacional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Coleta: </a:t>
            </a:r>
            <a:r>
              <a:rPr cap="none" sz="13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Questionário via WhatsApp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Amostragem: </a:t>
            </a:r>
            <a:r>
              <a:rPr cap="none" sz="13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Estratificada, estágio único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Unidades: </a:t>
            </a:r>
            <a:r>
              <a:rPr cap="none" sz="13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Todas as USF e USF+ incluídas (deff ≈ 1,0)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Indígenas: </a:t>
            </a:r>
            <a:r>
              <a:rPr cap="none" sz="13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Censo completo (244 pessoas)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Estratos: DS (8) × tipo_unidade (2) = 16 estratos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Representativo em cada Distrito Sanitário × tipo de unidade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População de Estudo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Base elegível (≥ 18 anos, sem missing): </a:t>
            </a:r>
            <a:r>
              <a:rPr cap="none" sz="20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888.919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>
                <a:solidFill>
                  <a:srgbClr val="4A6A9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USF: </a:t>
            </a:r>
            <a:r>
              <a:rPr cap="none" sz="1400" i="0" b="0" u="none">
                <a:solidFill>
                  <a:srgbClr val="4A6A9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316.044 (35,6%)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USF+: </a:t>
            </a:r>
            <a:r>
              <a:rPr cap="none" sz="1400" i="0" b="0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572.631 (64,4%)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Indígenas: </a:t>
            </a:r>
            <a:r>
              <a:rPr cap="none" sz="14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244 (censo completo)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>
                <a:solidFill>
                  <a:srgbClr val="99999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8 Distritos Sanitários · Todas as USF e USF+ do município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Tamanho da Amostra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 por estrato (DS × tipo): </a:t>
            </a:r>
            <a:r>
              <a:rPr cap="none" sz="18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385 respostas completas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Confiança: 95% | Margem: ≤ 5% | deff: 1,0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 = z²·p·(1−p)/e² = 1,96² × 0,5 × 0,5 / 0,05² = 385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Poder implícito: </a:t>
            </a:r>
            <a:r>
              <a:rPr cap="none" sz="12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 385/grupo/DS, detecta δ = 0,4 pt (escala 0-10)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entre USF e USF+ dentro de cada distrito (80% poder, α = 5%, σ = 2,0)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Alocação Direcionada — 3 Níveis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Nível 1: </a:t>
            </a:r>
            <a:r>
              <a:rPr cap="none" sz="13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Estrato recebe n convites fixo (385 / 7,5% ≈ 5.134)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>
                <a:solidFill>
                  <a:srgbClr val="99999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↓ proporcional à composição demográfica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>
                <a:solidFill>
                  <a:srgbClr val="C47A2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Nível 2: </a:t>
            </a:r>
            <a:r>
              <a:rPr cap="none" sz="13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Distribuir por sexo × faixa etária × raça/cor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>
                <a:solidFill>
                  <a:srgbClr val="99999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↓ proporcional ao cadastro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Nível 3: </a:t>
            </a:r>
            <a:r>
              <a:rPr cap="none" sz="13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Distribuir por USF → sorteio aleatório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>
                <a:solidFill>
                  <a:srgbClr val="4A6A9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Frações se cancelam → peso único por estrato: w = N_estrato / n_convites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Resultados: Alocação por Estrato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822960"/>
                <a:gridCol w="822960"/>
                <a:gridCol w="640080"/>
                <a:gridCol w="548640"/>
                <a:gridCol w="548640"/>
                <a:gridCol w="54864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Tipo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Cadastrados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Convites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Disparo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Resp.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Margem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Peso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8E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8E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3.336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8E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3.336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8E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Censo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8E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8E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6,2%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8E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8E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USF+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40.050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7,80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42.798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8,34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USF+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103.367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20,13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5.509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USF+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38.476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7,49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89.141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17,36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USF+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39.816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7,76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47.969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9,34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USF+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101.810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19,83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20.424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3,98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USF+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67.657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13,18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57.937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11,28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USF+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91.458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17,82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48.930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9,53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USF+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89.997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5.134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Amostra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5,0%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17,53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Total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800" i="0" b="1" u="none">
                        <a:solidFill>
                          <a:srgbClr val="4A6A9A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800" i="0" b="1" u="none">
                          <a:solidFill>
                            <a:srgbClr val="4A6A9A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888.675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80.346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800" i="0" b="1" u="non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6.041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800" i="0" b="1" u="non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800" i="0" b="1" u="non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8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Números Consolidados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Convites totais: </a:t>
            </a:r>
            <a:r>
              <a:rPr cap="none" sz="22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80.590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(incl. 244 indígenas)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Respostas esperadas: </a:t>
            </a:r>
            <a:r>
              <a:rPr cap="none" sz="2200" i="0" b="1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6.060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(taxa resposta 7,5%)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Lista de reserva: </a:t>
            </a:r>
            <a:r>
              <a:rPr cap="none" sz="22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~40.000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(50% da principal)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>
                <a:solidFill>
                  <a:srgbClr val="4A6A9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Respostas USF: </a:t>
            </a:r>
            <a:r>
              <a:rPr cap="none" sz="1800" i="0" b="1" u="none">
                <a:solidFill>
                  <a:srgbClr val="4A6A9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2.953</a:t>
            </a:r>
            <a:r>
              <a:rPr cap="none" sz="14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Respostas USF+: </a:t>
            </a:r>
            <a:r>
              <a:rPr cap="none" sz="18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3.088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Poder: δ = 0,4 pt por DS | δ &lt; 0,15 pt para Recife total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Estratégia Operacional: 5 Ondas de 20%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Onda 1 (20%): 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Validação operacional — taxas reais, problemas técnicos. 7-10 dias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Onda 2 (20%): 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Ajustes de mensagem/horário — compensar déficits da onda 1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Onda 3 (20%): 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Avaliação acumulada (60%) — recalcular volume das ondas 4-5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C47A2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Onda 4 (20%): 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Reforço de estratos deficitários — excluir os que atingiram meta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C47A2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Onda 5 (20%+reserva): 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Fechamento — priorizar subgrupos abaixo da meta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Lembretes: 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após as 5 ondas, até 3 por pessoa, texto já otimizado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Teste A/B no Piloto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Teste principal: comparar dois formatos de questionário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>
                <a:solidFill>
                  <a:srgbClr val="4A6A9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Versão A — Completa: </a:t>
            </a:r>
            <a:r>
              <a:rPr cap="none" sz="1200" i="0" b="0" u="none">
                <a:solidFill>
                  <a:srgbClr val="4A6A9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todos os blocos da APS (10-15 min)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Versão B — Reduzida: </a:t>
            </a:r>
            <a:r>
              <a:rPr cap="none" sz="1200" i="0" b="0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itens essenciais USF vs USF+ (5-8 min)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Indicadores: taxa de resposta (decisivo) · abandono · tempo · qualidade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Piloto: 200 convites/versão · atribuição aleatória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>
                <a:solidFill>
                  <a:srgbClr val="99999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Testes secundários: mensagem · formato · horário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Cálculo dos Pesos Amostrais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w = N_estrato / n_convites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Cada respondente 'representa' w cadastrados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4A6A9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Estratos amostra: </a:t>
            </a:r>
            <a:r>
              <a:rPr cap="none" sz="1200" i="0" b="0" u="none">
                <a:solidFill>
                  <a:srgbClr val="4A6A9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w = 1,07 a 20,13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C47A2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Estrato censo (DS 1 × USF): </a:t>
            </a:r>
            <a:r>
              <a:rPr cap="none" sz="1200" i="0" b="0" u="none">
                <a:solidFill>
                  <a:srgbClr val="C47A2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w = 1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Indígenas (censo): </a:t>
            </a:r>
            <a:r>
              <a:rPr cap="none" sz="12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w = 1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Pós-estratificação: ajuste residual por sexo × faixa × raça/cor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>
                <a:solidFill>
                  <a:srgbClr val="7F77DD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Ajustes mínimos graças à alocação direcionada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Garantias do Desenho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Margem ≤ 5% em 15/16 estratos (DS 1 × USF censo com 6,2%)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Poder 80% para δ = 0,4 pt por DS (comparação USF vs USF+)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Composição demográfica preservada (alocação direcionada)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Indígenas por censo completo (244 pessoas, peso = 1)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Todas as USF e USF+ participam (deff ≈ 1,0)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✓ Lista de reserva de 50% (mesmas proporções, ondas 2-5)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Cronograma Estimado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914400" y="1371600"/>
          <a:ext cx="7315200" cy="3657600"/>
        </p:xfrm>
        <a:graphic>
          <a:graphicData uri="http://schemas.openxmlformats.org/drawingml/2006/table">
            <a:tbl>
              <a:tblPr/>
              <a:tblGrid>
                <a:gridCol w="914400"/>
                <a:gridCol w="54864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Semana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Fase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7F77DD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1-2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Estudo-piloto + Teste A/B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7F77DD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Ajustes pós-piloto + lista final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7F77DD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Onda 1 (20%) + observação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3F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7F77DD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Onda 2 (20%) + ajustes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3F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7F77DD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Onda 3 (20%) + avaliação acumulada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3F0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7F77DD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Onda 4 (20%) — reforço deficitários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5E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7F77DD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Onda 5 (20% + reserva) — fechamento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5E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7F77DD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9-10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Lembretes (3 rodadas)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7F77DD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11-12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Limpeza + ponderação + análise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AF8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1. Validar base de raça/cor 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— confirmar codificação com SMS-Recife [Pendente]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2. Definir instrumento (versões A e B) </a:t>
            </a:r>
            <a:r>
              <a:rPr cap="none" sz="1100" i="0" b="0" u="none">
                <a:solidFill>
                  <a:srgbClr val="C47A2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— completo + reduzido para teste A/B [Em andamento]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3. Estudo-piloto 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— 2-3 unidades, teste A/B, estimar taxa real [A fazer]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4. Gerar lista de disparo + reserva </a:t>
            </a:r>
            <a:r>
              <a:rPr cap="none" sz="1100" i="0" b="0" u="none">
                <a:solidFill>
                  <a:srgbClr val="4A8A7A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— script pronto, rodar após validação [Pronto]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5. Coleta (5 ondas + lembretes) 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— 8-10 semanas de campo [A fazer]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>
                <a:solidFill>
                  <a:srgbClr val="3333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6. Análise ponderada </a:t>
            </a:r>
            <a:r>
              <a:rPr cap="none" sz="1100" i="0" b="0" u="none">
                <a:solidFill>
                  <a:srgbClr val="66666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— pesos + pós-estratificação + comparação [A fazer]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renatoteixeira</cp:lastModifiedBy>
  <cp:revision>3</cp:revision>
  <dcterms:created xsi:type="dcterms:W3CDTF">2017-02-13T16:18:36Z</dcterms:created>
  <dcterms:modified xsi:type="dcterms:W3CDTF">2026-06-30T10:11:45Z</dcterms:modified>
  <cp:category/>
</cp:coreProperties>
</file>